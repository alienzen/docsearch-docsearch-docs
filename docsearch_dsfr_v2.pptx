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</c:v>
                </c:pt>
              </c:strCache>
            </c:strRef>
          </c:tx>
          <c:spPr>
            <a:solidFill>
              <a:srgbClr val="1875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75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1000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009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Gain annuel
estimé</c:v>
                  </c:pt>
                  <c:pt idx="1">
                    <c:v>Coût total
3 ans</c:v>
                  </c:pt>
                  <c:pt idx="2">
                    <c:v>Gain net
3 ans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229500</c:v>
                </c:pt>
                <c:pt idx="1">
                  <c:v>13200</c:v>
                </c:pt>
                <c:pt idx="2">
                  <c:v>675300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contexte : 4M documents, 400 utilisateurs, solution 100% open source avec ACL.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45-90 min/jour : sur 400 utilisateurs × 220 jours = 5,1 ETP libérés.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l'ACL : résultat de recherche filtré automatiquement par utilisateur.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coût réel est quasi nul grâce aux ressources internes. Le ROI × 52 est exceptionnel.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Approche en 2 phases : go/no-go fin M2 avant tout investissement. Déploiement ACL dès l'indexation initiale.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clé : les ACL sont extraites à l'indexation et appliquées à chaque requête ES. Pas de post-filtrage applicatif.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RAG est optionnel. Les modèles Mixtral et multilingual-e5-large sont open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M7 : web crawling + flux RSS + multilingue — peu coûteux (2-5 jours chacun) et valeur immédiate.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Sinequa est excellent pour les grands comptes avec budget IT élevé. Notre choix ES+Tika est justifié par le budget maîtrisé et la maîtrise totale.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la progressivité : Phase 1 à coût zéro, décision en M2 sur la base de résultats mesurés.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0074">
              <a:alpha val="35000"/>
            </a:srgbClr>
          </a:solidFill>
          <a:ln w="12700">
            <a:solidFill>
              <a:srgbClr val="0000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00091">
              <a:alpha val="30000"/>
            </a:srgbClr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PROPOSITION DE DÉPLOIEMENT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de recherche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documentaire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 Elasticsearch 9.4.3 · Apache Tika 3.3.1 · Kafka 8.3 (KRaft)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: 400 utilisateurs · 4 000 000 documents · Open source · On-premise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00074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4 000 000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24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indexés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36118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00074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657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4224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6118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00074"/>
          </a:solidFill>
          <a:ln w="12700">
            <a:solidFill>
              <a:srgbClr val="0000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657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mois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4224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déploiement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6F6F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0700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789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45–90 min/jour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5361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perdues en recherche manuelle par utilisateur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00600" y="91440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6F6F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07008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560" y="10789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perdus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23560" y="15361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doublons, versions obsolètes, opacité du patrimoine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6F6F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72968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0449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utilisateurs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80160" y="35021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outil de recherche centralisé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800600" y="28803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6F6F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72968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3560" y="30449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229 500 €/an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623560" y="35021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perte de productivité (5,1 ETP × 45 000 €)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868680"/>
            <a:ext cx="1737360" cy="1234440"/>
          </a:xfrm>
          <a:prstGeom prst="roundRect">
            <a:avLst>
              <a:gd name="adj" fmla="val 7407"/>
            </a:avLst>
          </a:prstGeom>
          <a:solidFill>
            <a:srgbClr val="ECECFD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9326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Documents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1536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DOCX · XLSX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· PST · TXT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65960" y="1481328"/>
            <a:ext cx="182880" cy="0"/>
          </a:xfrm>
          <a:prstGeom prst="line">
            <a:avLst/>
          </a:prstGeom>
          <a:noFill/>
          <a:ln w="25400">
            <a:solidFill>
              <a:srgbClr val="0000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371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91"/>
                </a:solidFill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868680"/>
            <a:ext cx="1737360" cy="1234440"/>
          </a:xfrm>
          <a:prstGeom prst="roundRect">
            <a:avLst>
              <a:gd name="adj" fmla="val 7407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9326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Apache Tika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3.3.1 (×4)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536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texte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1481328"/>
            <a:ext cx="182880" cy="0"/>
          </a:xfrm>
          <a:prstGeom prst="line">
            <a:avLst/>
          </a:prstGeom>
          <a:noFill/>
          <a:ln w="25400">
            <a:solidFill>
              <a:srgbClr val="0000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371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91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868680"/>
            <a:ext cx="1737360" cy="1234440"/>
          </a:xfrm>
          <a:prstGeom prst="roundRect">
            <a:avLst>
              <a:gd name="adj" fmla="val 7407"/>
            </a:avLst>
          </a:prstGeom>
          <a:solidFill>
            <a:srgbClr val="FFE9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9326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📨 Kafka 8.3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3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(KRaft)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1536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de messages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workers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97880" y="1481328"/>
            <a:ext cx="182880" cy="0"/>
          </a:xfrm>
          <a:prstGeom prst="line">
            <a:avLst/>
          </a:prstGeom>
          <a:noFill/>
          <a:ln w="25400">
            <a:solidFill>
              <a:srgbClr val="0000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371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91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868680"/>
            <a:ext cx="1737360" cy="1234440"/>
          </a:xfrm>
          <a:prstGeom prst="roundRect">
            <a:avLst>
              <a:gd name="adj" fmla="val 7407"/>
            </a:avLst>
          </a:prstGeom>
          <a:solidFill>
            <a:srgbClr val="ECECFD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9326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Elasticsearch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9.4.3 (×4 nœuds)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536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+ recherche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seconde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23774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0ED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2450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FastAPI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+ ACL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23774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ECECFD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97480" y="2450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Nginx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proxy / SSL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3774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17720" y="2450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ACL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POSIX + LDAP/AD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23774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37960" y="2450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Zabbix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système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3566160"/>
            <a:ext cx="8778240" cy="685800"/>
          </a:xfrm>
          <a:prstGeom prst="roundRect">
            <a:avLst>
              <a:gd name="adj" fmla="val 8000"/>
            </a:avLst>
          </a:prstGeom>
          <a:solidFill>
            <a:srgbClr val="DFFEE6"/>
          </a:solidFill>
          <a:ln w="12700">
            <a:solidFill>
              <a:srgbClr val="1875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593592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Contrôle d'accès (ACL) : chaque utilisateur ne recherche que les documents auxquels il est autorisé (permissions POSIX + groupes AD/LDAP)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4389120"/>
            <a:ext cx="8778240" cy="457200"/>
          </a:xfrm>
          <a:prstGeom prst="roundRect">
            <a:avLst>
              <a:gd name="adj" fmla="val 12000"/>
            </a:avLst>
          </a:prstGeom>
          <a:solidFill>
            <a:srgbClr val="000060"/>
          </a:solidFill>
          <a:ln w="12700">
            <a:solidFill>
              <a:srgbClr val="000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407408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100 % open source  ·  Docker Compose  ·  On-premise  ·  Zéro coût de licence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financière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ECECFD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8869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matérielle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" y="1261872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75488" y="1773936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existante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(valeur indicative : 31 500 €)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8869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Prestation de déploiement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10128" y="1261872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10128" y="1773936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jours pris en charge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interne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8229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E9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8869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Récurrent annuel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44768" y="1261872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4 400 €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44768" y="1773936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+ énergie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(TMA internalisée)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578608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000060"/>
          </a:solidFill>
          <a:ln w="12700">
            <a:solidFill>
              <a:srgbClr val="000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060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INVESTISSEMENT INITIAL : 0 € HT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9626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et prestation prises en charge en interne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578608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DFFEE6"/>
          </a:solidFill>
          <a:ln w="12700">
            <a:solidFill>
              <a:srgbClr val="1875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670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29992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52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03504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3 ans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immédiat</a:t>
            </a:r>
            <a:endParaRPr lang="en-US" sz="1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65760" y="3383280"/>
          <a:ext cx="53949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de déploiement — 6 mois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834640" y="749808"/>
            <a:ext cx="950976" cy="329184"/>
          </a:xfrm>
          <a:prstGeom prst="roundRect">
            <a:avLst>
              <a:gd name="adj" fmla="val 11111"/>
            </a:avLst>
          </a:prstGeom>
          <a:solidFill>
            <a:srgbClr val="ECECFD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7680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0" y="749808"/>
            <a:ext cx="950976" cy="329184"/>
          </a:xfrm>
          <a:prstGeom prst="roundRect">
            <a:avLst>
              <a:gd name="adj" fmla="val 11111"/>
            </a:avLst>
          </a:prstGeom>
          <a:solidFill>
            <a:srgbClr val="ECECFD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7680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749808"/>
            <a:ext cx="950976" cy="329184"/>
          </a:xfrm>
          <a:prstGeom prst="roundRect">
            <a:avLst>
              <a:gd name="adj" fmla="val 11111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7680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749808"/>
            <a:ext cx="950976" cy="329184"/>
          </a:xfrm>
          <a:prstGeom prst="roundRect">
            <a:avLst>
              <a:gd name="adj" fmla="val 11111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7680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749808"/>
            <a:ext cx="950976" cy="329184"/>
          </a:xfrm>
          <a:prstGeom prst="roundRect">
            <a:avLst>
              <a:gd name="adj" fmla="val 11111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7680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950976" cy="329184"/>
          </a:xfrm>
          <a:prstGeom prst="roundRect">
            <a:avLst>
              <a:gd name="adj" fmla="val 11111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7680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1143000"/>
            <a:ext cx="2542032" cy="274320"/>
          </a:xfrm>
          <a:prstGeom prst="roundRect">
            <a:avLst>
              <a:gd name="adj" fmla="val 13333"/>
            </a:avLst>
          </a:prstGeom>
          <a:solidFill>
            <a:srgbClr val="ECECFD"/>
          </a:solidFill>
          <a:ln w="6350">
            <a:solidFill>
              <a:srgbClr val="0000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1612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DÉMONSTRATEUR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2542032" cy="274320"/>
          </a:xfrm>
          <a:prstGeom prst="roundRect">
            <a:avLst>
              <a:gd name="adj" fmla="val 13333"/>
            </a:avLst>
          </a:prstGeom>
          <a:solidFill>
            <a:srgbClr val="DFFEE6"/>
          </a:solidFill>
          <a:ln w="6350">
            <a:solidFill>
              <a:srgbClr val="1875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89864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PRODUCTION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" y="151790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démonstrateur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34640" y="1536192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000091">
              <a:alpha val="85000"/>
            </a:srgbClr>
          </a:solidFill>
          <a:ln w="6350">
            <a:solidFill>
              <a:srgbClr val="0000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8653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Docker + indexation 50K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0" y="1883664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000091">
              <a:alpha val="85000"/>
            </a:srgbClr>
          </a:solidFill>
          <a:ln w="6350">
            <a:solidFill>
              <a:srgbClr val="0000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2128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pilotes + go/no-go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0" y="2231136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000091">
              <a:alpha val="85000"/>
            </a:srgbClr>
          </a:solidFill>
          <a:ln w="6350">
            <a:solidFill>
              <a:srgbClr val="0000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25526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Achat &amp; install. serveurs prod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3273552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18753C">
              <a:alpha val="85000"/>
            </a:srgbClr>
          </a:solidFill>
          <a:ln w="6350">
            <a:solidFill>
              <a:srgbClr val="1875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60273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cluster ES 4 nœuds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52160" y="3621024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18753C">
              <a:alpha val="85000"/>
            </a:srgbClr>
          </a:solidFill>
          <a:ln w="6350">
            <a:solidFill>
              <a:srgbClr val="1875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95020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Indexation 4M documents (8h)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52160" y="3968496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18753C">
              <a:alpha val="85000"/>
            </a:srgbClr>
          </a:solidFill>
          <a:ln w="6350">
            <a:solidFill>
              <a:srgbClr val="1875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2976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de charge (400 users)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0" y="4315968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18753C">
              <a:alpha val="85000"/>
            </a:srgbClr>
          </a:solidFill>
          <a:ln w="6350">
            <a:solidFill>
              <a:srgbClr val="1875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6451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8 sessions + docs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58000" y="4663440"/>
            <a:ext cx="1956816" cy="219456"/>
          </a:xfrm>
          <a:prstGeom prst="roundRect">
            <a:avLst>
              <a:gd name="adj" fmla="val 16667"/>
            </a:avLst>
          </a:prstGeom>
          <a:solidFill>
            <a:srgbClr val="18753C">
              <a:alpha val="85000"/>
            </a:srgbClr>
          </a:solidFill>
          <a:ln w="6350">
            <a:solidFill>
              <a:srgbClr val="1875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499262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production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863840" y="5010912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18753C">
              <a:alpha val="85000"/>
            </a:srgbClr>
          </a:solidFill>
          <a:ln w="6350">
            <a:solidFill>
              <a:srgbClr val="18753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documentaire (ACL)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" y="8686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ECECFD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932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3898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/data/rapport.pdf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dupont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group: finance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perms: 640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30552" y="1527048"/>
            <a:ext cx="246888" cy="0"/>
          </a:xfrm>
          <a:prstGeom prst="line">
            <a:avLst/>
          </a:prstGeom>
          <a:noFill/>
          <a:ln w="19050">
            <a:solidFill>
              <a:srgbClr val="0000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3898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91"/>
                </a:solidFill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8686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932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extraction ACL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3898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acl_extractor.py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getfacl + LDAP/AD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33672" y="1527048"/>
            <a:ext cx="246888" cy="0"/>
          </a:xfrm>
          <a:prstGeom prst="line">
            <a:avLst/>
          </a:prstGeom>
          <a:noFill/>
          <a:ln w="19050">
            <a:solidFill>
              <a:srgbClr val="0000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3898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91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8686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ECECFD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932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 acl{}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3898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· group · users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· permissions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36792" y="1527048"/>
            <a:ext cx="246888" cy="0"/>
          </a:xfrm>
          <a:prstGeom prst="line">
            <a:avLst/>
          </a:prstGeom>
          <a:noFill/>
          <a:ln w="19050">
            <a:solidFill>
              <a:srgbClr val="0000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3898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91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8686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932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filtrée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13898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user ne voit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SES documents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468880"/>
            <a:ext cx="20848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" y="25786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4320" y="299923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POSIX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31927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Droits unix natifs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os.stat() + getfacl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95728" y="2468880"/>
            <a:ext cx="20848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95728" y="25786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487168" y="299923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 / 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87168" y="331927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Groupes Active Directory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résolution automatique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08576" y="2468880"/>
            <a:ext cx="20848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08576" y="25786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00016" y="299923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réel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0016" y="331927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Watcher met à jour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ACL à chaque changement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21424" y="2468880"/>
            <a:ext cx="20848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21424" y="25786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12864" y="299923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RGPD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12864" y="331927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fuite de données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utilisateurs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RAG — Assistant documentaire on-premise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8686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0ED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932688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901952" y="1325880"/>
            <a:ext cx="182880" cy="0"/>
          </a:xfrm>
          <a:prstGeom prst="line">
            <a:avLst/>
          </a:prstGeom>
          <a:noFill/>
          <a:ln w="19050">
            <a:solidFill>
              <a:srgbClr val="0000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93392" y="1188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91"/>
                </a:solidFill>
              </a:rPr>
              <a:t>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8686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ECECFD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932688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multilingual-e5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30752" y="1325880"/>
            <a:ext cx="182880" cy="0"/>
          </a:xfrm>
          <a:prstGeom prst="line">
            <a:avLst/>
          </a:prstGeom>
          <a:noFill/>
          <a:ln w="19050">
            <a:solidFill>
              <a:srgbClr val="0000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1188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91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8686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932688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kNN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59552" y="1325880"/>
            <a:ext cx="182880" cy="0"/>
          </a:xfrm>
          <a:prstGeom prst="line">
            <a:avLst/>
          </a:prstGeom>
          <a:noFill/>
          <a:ln w="19050">
            <a:solidFill>
              <a:srgbClr val="0000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1188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91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8686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E9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932688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Mixtral 8x7B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3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(Ollama · GPU)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88352" y="1325880"/>
            <a:ext cx="182880" cy="0"/>
          </a:xfrm>
          <a:prstGeom prst="line">
            <a:avLst/>
          </a:prstGeom>
          <a:noFill/>
          <a:ln w="19050">
            <a:solidFill>
              <a:srgbClr val="0000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1188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91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0" y="8686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932688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sourcée 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10312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" y="2194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" y="257860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Langage naturel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29077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en français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 rédigées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95728" y="210312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95728" y="2194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📎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487168" y="257860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citées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87168" y="29077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réponse référence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documents utilisés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08576" y="210312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08576" y="2194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00016" y="257860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on-premise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0016" y="29077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envoi cloud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garanti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21424" y="210312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21424" y="2194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912864" y="257860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additive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12864" y="29077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refonte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ajoutée sur l'existant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370332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FE9E6"/>
          </a:solidFill>
          <a:ln w="12700">
            <a:solidFill>
              <a:srgbClr val="B34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730752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RAG : + 22 000 € HT  |  Serveur GPU 2×RTX 4090 (15 000 €) + Développement 10 j (7 000 €)  |  Déploiement en 3 semaines après M6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Évolutions futures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ECECFD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8961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crawling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Légifrance, EUR-Lex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conseil-constitutionnel.fr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2249424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000060"/>
          </a:solidFill>
          <a:ln w="12700">
            <a:solidFill>
              <a:srgbClr val="000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585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54680" y="804672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DFFE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8961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46120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RSS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documentaire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temps réel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2249424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000060"/>
          </a:solidFill>
          <a:ln w="12700">
            <a:solidFill>
              <a:srgbClr val="000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2585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0ED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8961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700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Anglais, espagnol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allemand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2249424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000060"/>
          </a:solidFill>
          <a:ln w="12700">
            <a:solidFill>
              <a:srgbClr val="000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2585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816352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E9E6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9077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" y="3364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Audio/Vidéo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7124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 Whisper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Réunions &amp; conférences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8680" y="4261104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000060"/>
          </a:solidFill>
          <a:ln w="12700">
            <a:solidFill>
              <a:srgbClr val="000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70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M8-M9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54680" y="2816352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EF3C7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54680" y="29077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246120" y="3364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Images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37124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Tesseract/PaddleOCR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Formulaires scannés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49040" y="4261104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000060"/>
          </a:solidFill>
          <a:ln w="12700">
            <a:solidFill>
              <a:srgbClr val="000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4270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35040" y="2816352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EE2E2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35040" y="29077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26480" y="3364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37124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multi-docs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Mixtral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29400" y="4261104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000060"/>
          </a:solidFill>
          <a:ln w="12700">
            <a:solidFill>
              <a:srgbClr val="000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270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M10+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Sinequa (ChapsVision) vs Elasticsearch + Tika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0" y="749808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F0EDFF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768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Sinequa by ChapsVision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0" y="749808"/>
            <a:ext cx="2880360" cy="347472"/>
          </a:xfrm>
          <a:prstGeom prst="roundRect">
            <a:avLst>
              <a:gd name="adj" fmla="val 15789"/>
            </a:avLst>
          </a:prstGeom>
          <a:solidFill>
            <a:srgbClr val="DFFEE6"/>
          </a:solidFill>
          <a:ln w="6350">
            <a:solidFill>
              <a:srgbClr val="187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6809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 + Tika 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8346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43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licence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70432"/>
            <a:ext cx="2606040" cy="475488"/>
          </a:xfrm>
          <a:prstGeom prst="rect">
            <a:avLst/>
          </a:prstGeom>
          <a:solidFill>
            <a:srgbClr val="FFE9E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2435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100–200 k€+/an 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1170432"/>
            <a:ext cx="2880360" cy="475488"/>
          </a:xfrm>
          <a:prstGeom prst="rect">
            <a:avLst/>
          </a:prstGeom>
          <a:solidFill>
            <a:srgbClr val="DFFEE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24358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 (open source) ✅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682496"/>
            <a:ext cx="2834640" cy="475488"/>
          </a:xfrm>
          <a:prstGeom prst="rect">
            <a:avLst/>
          </a:prstGeom>
          <a:solidFill>
            <a:srgbClr val="F6F6F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55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682496"/>
            <a:ext cx="2606040" cy="475488"/>
          </a:xfrm>
          <a:prstGeom prst="rect">
            <a:avLst/>
          </a:prstGeom>
          <a:solidFill>
            <a:srgbClr val="F6F6F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7556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SaaS/on-premise ~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1682496"/>
            <a:ext cx="2880360" cy="475488"/>
          </a:xfrm>
          <a:prstGeom prst="rect">
            <a:avLst/>
          </a:prstGeom>
          <a:solidFill>
            <a:srgbClr val="DFFEE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7556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Docker ✅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194560"/>
            <a:ext cx="28346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677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intégré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194560"/>
            <a:ext cx="2606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26771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Natif 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2194560"/>
            <a:ext cx="2880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26771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construire (22 k€) ~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706624"/>
            <a:ext cx="2834640" cy="475488"/>
          </a:xfrm>
          <a:prstGeom prst="rect">
            <a:avLst/>
          </a:prstGeom>
          <a:solidFill>
            <a:srgbClr val="F6F6F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797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ACL/RGPD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2706624"/>
            <a:ext cx="2606040" cy="475488"/>
          </a:xfrm>
          <a:prstGeom prst="rect">
            <a:avLst/>
          </a:prstGeom>
          <a:solidFill>
            <a:srgbClr val="F6F6F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27797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Oui (option) ~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2706624"/>
            <a:ext cx="2880360" cy="475488"/>
          </a:xfrm>
          <a:prstGeom prst="rect">
            <a:avLst/>
          </a:prstGeom>
          <a:solidFill>
            <a:srgbClr val="DFFEE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7797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Natif POSIX + LDAP/AD 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218688"/>
            <a:ext cx="28346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918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Personnalisation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3218688"/>
            <a:ext cx="2606040" cy="475488"/>
          </a:xfrm>
          <a:prstGeom prst="rect">
            <a:avLst/>
          </a:prstGeom>
          <a:solidFill>
            <a:srgbClr val="FFE9E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32918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100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Limitée éditeur 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0" y="3218688"/>
            <a:ext cx="2880360" cy="475488"/>
          </a:xfrm>
          <a:prstGeom prst="rect">
            <a:avLst/>
          </a:prstGeom>
          <a:solidFill>
            <a:srgbClr val="DFFEE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32918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Totale, open source ✅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730752"/>
            <a:ext cx="2834640" cy="475488"/>
          </a:xfrm>
          <a:prstGeom prst="rect">
            <a:avLst/>
          </a:prstGeom>
          <a:solidFill>
            <a:srgbClr val="F6F6F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03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730752"/>
            <a:ext cx="2606040" cy="475488"/>
          </a:xfrm>
          <a:prstGeom prst="rect">
            <a:avLst/>
          </a:prstGeom>
          <a:solidFill>
            <a:srgbClr val="F6F6F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38039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Grands comptes 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0" y="3730752"/>
            <a:ext cx="2880360" cy="475488"/>
          </a:xfrm>
          <a:prstGeom prst="rect">
            <a:avLst/>
          </a:prstGeom>
          <a:solidFill>
            <a:srgbClr val="DFFEE6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380390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budget, ROI immédiat ✅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1000F"/>
          </a:solidFill>
          <a:ln w="12700">
            <a:solidFill>
              <a:srgbClr val="E100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000074">
              <a:alpha val="35000"/>
            </a:srgbClr>
          </a:solidFill>
          <a:ln w="12700">
            <a:solidFill>
              <a:srgbClr val="0000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87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la Phase 1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dès ce mois-ci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43200" cy="2423160"/>
          </a:xfrm>
          <a:prstGeom prst="roundRect">
            <a:avLst>
              <a:gd name="adj" fmla="val 4528"/>
            </a:avLst>
          </a:prstGeom>
          <a:solidFill>
            <a:srgbClr val="000074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938528"/>
            <a:ext cx="640080" cy="640080"/>
          </a:xfrm>
          <a:prstGeom prst="ellipse">
            <a:avLst/>
          </a:prstGeom>
          <a:solidFill>
            <a:srgbClr val="18753C"/>
          </a:solidFill>
          <a:ln w="12700">
            <a:solidFill>
              <a:srgbClr val="187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95681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Démonstrateur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0 €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test + équipe interne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Indexation 50 000 docs pilotes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874520"/>
            <a:ext cx="2743200" cy="2423160"/>
          </a:xfrm>
          <a:prstGeom prst="roundRect">
            <a:avLst>
              <a:gd name="adj" fmla="val 4528"/>
            </a:avLst>
          </a:prstGeom>
          <a:solidFill>
            <a:srgbClr val="000074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938528"/>
            <a:ext cx="640080" cy="640080"/>
          </a:xfrm>
          <a:prstGeom prst="ellipse">
            <a:avLst/>
          </a:prstGeom>
          <a:solidFill>
            <a:srgbClr val="18753C"/>
          </a:solidFill>
          <a:ln w="12700">
            <a:solidFill>
              <a:srgbClr val="1875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95681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651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(fin M2)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0632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technique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groupe pilote (10 users)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passage en production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874520"/>
            <a:ext cx="2743200" cy="2423160"/>
          </a:xfrm>
          <a:prstGeom prst="roundRect">
            <a:avLst>
              <a:gd name="adj" fmla="val 4528"/>
            </a:avLst>
          </a:prstGeom>
          <a:solidFill>
            <a:srgbClr val="000074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1938528"/>
            <a:ext cx="640080" cy="640080"/>
          </a:xfrm>
          <a:prstGeom prst="ellipse">
            <a:avLst/>
          </a:prstGeom>
          <a:solidFill>
            <a:srgbClr val="18753C"/>
          </a:solidFill>
          <a:ln w="12700">
            <a:solidFill>
              <a:srgbClr val="1875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95681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651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Production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0632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récurrent 4 400 €/an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 docs · 400 utilisateurs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prod M6 avec ACL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open source  ·  Zéro coût de licence  ·  ACL POSIX + LDAP/AD  ·  ROI × 52  ·  Retour immédiat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DocSearch — Proposition de déploiement</dc:title>
  <dc:subject>PptxGenJS Presentation</dc:subject>
  <dc:creator>PptxGenJS</dc:creator>
  <cp:lastModifiedBy>PptxGenJS</cp:lastModifiedBy>
  <cp:revision>1</cp:revision>
  <dcterms:created xsi:type="dcterms:W3CDTF">2026-07-02T07:40:04Z</dcterms:created>
  <dcterms:modified xsi:type="dcterms:W3CDTF">2026-07-02T07:40:04Z</dcterms:modified>
</cp:coreProperties>
</file>